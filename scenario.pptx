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Montserrat ExtraBold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MontserratExtraBold-bold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20f963d3b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f20f963d3b_3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aa370066fbd80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1aa370066fbd80f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20f963d3b_3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20f963d3b_3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20f963d3b_3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20f963d3b_3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20f963d3b_3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20f963d3b_3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210cef7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210cef7b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571500" y="6343650"/>
            <a:ext cx="171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nodal</a:t>
            </a:r>
            <a:r>
              <a:rPr b="0" i="0" lang="en-US" sz="1500" u="none" cap="none" strike="noStrike">
                <a:solidFill>
                  <a:srgbClr val="CC3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/</a:t>
            </a:r>
            <a:r>
              <a:rPr b="0" i="0" lang="en-US" sz="1500" u="none" cap="none" strike="noStrike">
                <a:solidFill>
                  <a:srgbClr val="99999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ys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7791450" y="6372225"/>
            <a:ext cx="3829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9999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https://www.nodalys.com.au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10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469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5524500" y="857250"/>
            <a:ext cx="1143000" cy="15900"/>
          </a:xfrm>
          <a:prstGeom prst="rect">
            <a:avLst/>
          </a:prstGeom>
          <a:solidFill>
            <a:srgbClr val="CC3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158775"/>
            <a:ext cx="11601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Session 6: </a:t>
            </a:r>
            <a:endParaRPr sz="525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Cable Damage and Repair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092475"/>
            <a:ext cx="762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0E6"/>
                </a:solidFill>
                <a:latin typeface="Montserrat"/>
                <a:ea typeface="Montserrat"/>
                <a:cs typeface="Montserrat"/>
                <a:sym typeface="Montserrat"/>
              </a:rPr>
              <a:t>Case Study Breakout Session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6343650"/>
            <a:ext cx="105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nodal</a:t>
            </a:r>
            <a:r>
              <a:rPr b="0" i="0" lang="en-US" sz="1500" u="none" cap="none" strike="noStrike">
                <a:solidFill>
                  <a:srgbClr val="CC3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/</a:t>
            </a: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ys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563500" y="6372225"/>
            <a:ext cx="2163600" cy="161700"/>
          </a:xfrm>
          <a:prstGeom prst="rect">
            <a:avLst/>
          </a:prstGeom>
          <a:solidFill>
            <a:srgbClr val="27469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Facilitator: Jocelinn Kang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1962" y="827374"/>
            <a:ext cx="3286113" cy="244651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619865" y="1869439"/>
            <a:ext cx="3150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Detect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94875" y="2327579"/>
            <a:ext cx="3000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Monitoring, Threat alerts</a:t>
            </a:r>
            <a:r>
              <a:rPr lang="en-US" sz="12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b="0" i="0" lang="en-US" sz="12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200" u="none" cap="none" strike="noStrike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Notification</a:t>
            </a:r>
            <a:endParaRPr/>
          </a:p>
        </p:txBody>
      </p:sp>
      <p:grpSp>
        <p:nvGrpSpPr>
          <p:cNvPr id="98" name="Google Shape;98;p14"/>
          <p:cNvGrpSpPr/>
          <p:nvPr/>
        </p:nvGrpSpPr>
        <p:grpSpPr>
          <a:xfrm>
            <a:off x="2286000" y="796349"/>
            <a:ext cx="3286113" cy="2446510"/>
            <a:chOff x="2286000" y="796349"/>
            <a:chExt cx="3286113" cy="2446510"/>
          </a:xfrm>
        </p:grpSpPr>
        <p:pic>
          <p:nvPicPr>
            <p:cNvPr descr="image.png" id="99" name="Google Shape;99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66172" y="1199446"/>
              <a:ext cx="525778" cy="525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00" name="Google Shape;10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86000" y="796349"/>
              <a:ext cx="3286113" cy="24465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4"/>
            <p:cNvSpPr txBox="1"/>
            <p:nvPr/>
          </p:nvSpPr>
          <p:spPr>
            <a:xfrm>
              <a:off x="2479881" y="1900483"/>
              <a:ext cx="28983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94" u="none" cap="none" strike="noStrike">
                  <a:solidFill>
                    <a:srgbClr val="27469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Prevent</a:t>
              </a:r>
              <a:endParaRPr sz="1288"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2548890" y="2312342"/>
              <a:ext cx="2760300" cy="48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4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Protection</a:t>
              </a:r>
              <a:r>
                <a:rPr lang="en-US" sz="1204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</a:t>
              </a:r>
              <a:r>
                <a:rPr b="0" i="0" lang="en-US" sz="1204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0" i="0" sz="1204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4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Risk reduction</a:t>
              </a:r>
              <a:endParaRPr sz="1388"/>
            </a:p>
          </p:txBody>
        </p:sp>
        <p:pic>
          <p:nvPicPr>
            <p:cNvPr descr="image.png" id="103" name="Google Shape;103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23906" y="1357179"/>
              <a:ext cx="210311" cy="2103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4"/>
          <p:cNvGrpSpPr/>
          <p:nvPr/>
        </p:nvGrpSpPr>
        <p:grpSpPr>
          <a:xfrm>
            <a:off x="2286000" y="3868866"/>
            <a:ext cx="3286125" cy="2446510"/>
            <a:chOff x="2286000" y="3868866"/>
            <a:chExt cx="3286125" cy="2446510"/>
          </a:xfrm>
        </p:grpSpPr>
        <p:pic>
          <p:nvPicPr>
            <p:cNvPr descr="image.png" id="105" name="Google Shape;105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48687" y="4094275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06" name="Google Shape;106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86000" y="3868866"/>
              <a:ext cx="3286125" cy="24465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14"/>
            <p:cNvSpPr txBox="1"/>
            <p:nvPr/>
          </p:nvSpPr>
          <p:spPr>
            <a:xfrm>
              <a:off x="2353920" y="4837713"/>
              <a:ext cx="31503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CC3399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Recover</a:t>
              </a: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2428930" y="5285388"/>
              <a:ext cx="3000300" cy="48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Restore service</a:t>
              </a:r>
              <a:r>
                <a:rPr lang="en-US" sz="1200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</a:t>
              </a:r>
              <a:r>
                <a:rPr b="0" i="0" lang="en-US" sz="1200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0" i="0" sz="12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Share and integrate learnings</a:t>
              </a:r>
              <a:endParaRPr/>
            </a:p>
          </p:txBody>
        </p:sp>
        <p:pic>
          <p:nvPicPr>
            <p:cNvPr descr="image.png" id="109" name="Google Shape;109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800530" y="4247163"/>
              <a:ext cx="257175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Google Shape;110;p14"/>
          <p:cNvGrpSpPr/>
          <p:nvPr/>
        </p:nvGrpSpPr>
        <p:grpSpPr>
          <a:xfrm>
            <a:off x="6619875" y="3868868"/>
            <a:ext cx="3286125" cy="2446510"/>
            <a:chOff x="6619875" y="3868868"/>
            <a:chExt cx="3286125" cy="2446510"/>
          </a:xfrm>
        </p:grpSpPr>
        <p:pic>
          <p:nvPicPr>
            <p:cNvPr descr="image.png" id="111" name="Google Shape;111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34312" y="4094277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12" name="Google Shape;112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619875" y="3868868"/>
              <a:ext cx="3286125" cy="24465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4"/>
            <p:cNvSpPr txBox="1"/>
            <p:nvPr/>
          </p:nvSpPr>
          <p:spPr>
            <a:xfrm>
              <a:off x="6687790" y="4819152"/>
              <a:ext cx="31503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CC3399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Respond</a:t>
              </a:r>
              <a:endParaRPr/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6762800" y="5266827"/>
              <a:ext cx="3000300" cy="48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Address threat, Permitting, </a:t>
              </a:r>
              <a:endParaRPr b="0" i="0" sz="12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Mobilise repair vessel</a:t>
              </a:r>
              <a:endParaRPr/>
            </a:p>
          </p:txBody>
        </p:sp>
        <p:pic>
          <p:nvPicPr>
            <p:cNvPr descr="image.png" id="115" name="Google Shape;115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134400" y="4228602"/>
              <a:ext cx="257175" cy="22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4"/>
          <p:cNvSpPr txBox="1"/>
          <p:nvPr/>
        </p:nvSpPr>
        <p:spPr>
          <a:xfrm>
            <a:off x="295275" y="174968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Resilience Cycle</a:t>
            </a:r>
            <a:endParaRPr/>
          </a:p>
        </p:txBody>
      </p:sp>
      <p:cxnSp>
        <p:nvCxnSpPr>
          <p:cNvPr id="117" name="Google Shape;117;p14"/>
          <p:cNvCxnSpPr>
            <a:endCxn id="112" idx="0"/>
          </p:cNvCxnSpPr>
          <p:nvPr/>
        </p:nvCxnSpPr>
        <p:spPr>
          <a:xfrm>
            <a:off x="8262938" y="3242768"/>
            <a:ext cx="0" cy="626100"/>
          </a:xfrm>
          <a:prstGeom prst="straightConnector1">
            <a:avLst/>
          </a:prstGeom>
          <a:noFill/>
          <a:ln cap="flat" cmpd="sng" w="28575">
            <a:solidFill>
              <a:srgbClr val="75757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4"/>
          <p:cNvCxnSpPr>
            <a:stCxn id="106" idx="0"/>
            <a:endCxn id="100" idx="2"/>
          </p:cNvCxnSpPr>
          <p:nvPr/>
        </p:nvCxnSpPr>
        <p:spPr>
          <a:xfrm rot="10800000">
            <a:off x="3929063" y="3242766"/>
            <a:ext cx="0" cy="626100"/>
          </a:xfrm>
          <a:prstGeom prst="straightConnector1">
            <a:avLst/>
          </a:prstGeom>
          <a:noFill/>
          <a:ln cap="flat" cmpd="sng" w="28575">
            <a:solidFill>
              <a:srgbClr val="75757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4"/>
          <p:cNvCxnSpPr>
            <a:stCxn id="112" idx="1"/>
            <a:endCxn id="106" idx="3"/>
          </p:cNvCxnSpPr>
          <p:nvPr/>
        </p:nvCxnSpPr>
        <p:spPr>
          <a:xfrm rot="10800000">
            <a:off x="5572275" y="5092123"/>
            <a:ext cx="1047600" cy="0"/>
          </a:xfrm>
          <a:prstGeom prst="straightConnector1">
            <a:avLst/>
          </a:prstGeom>
          <a:noFill/>
          <a:ln cap="flat" cmpd="sng" w="28575">
            <a:solidFill>
              <a:srgbClr val="75757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4"/>
          <p:cNvCxnSpPr>
            <a:stCxn id="100" idx="3"/>
          </p:cNvCxnSpPr>
          <p:nvPr/>
        </p:nvCxnSpPr>
        <p:spPr>
          <a:xfrm flipH="1" rot="10800000">
            <a:off x="5572113" y="2016904"/>
            <a:ext cx="974100" cy="2700"/>
          </a:xfrm>
          <a:prstGeom prst="straightConnector1">
            <a:avLst/>
          </a:prstGeom>
          <a:noFill/>
          <a:ln cap="flat" cmpd="sng" w="28575">
            <a:solidFill>
              <a:srgbClr val="757575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1" name="Google Shape;121;p14"/>
          <p:cNvGrpSpPr/>
          <p:nvPr/>
        </p:nvGrpSpPr>
        <p:grpSpPr>
          <a:xfrm>
            <a:off x="8138492" y="1360498"/>
            <a:ext cx="248898" cy="244052"/>
            <a:chOff x="10238975" y="1378619"/>
            <a:chExt cx="306600" cy="300631"/>
          </a:xfrm>
        </p:grpSpPr>
        <p:sp>
          <p:nvSpPr>
            <p:cNvPr id="122" name="Google Shape;122;p14"/>
            <p:cNvSpPr/>
            <p:nvPr/>
          </p:nvSpPr>
          <p:spPr>
            <a:xfrm rot="9809738">
              <a:off x="10298317" y="1397447"/>
              <a:ext cx="152065" cy="135745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rgbClr val="6E9CE7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74225" lIns="74225" spcFirstLastPara="1" rIns="74225" wrap="square" tIns="74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3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10304160" y="1444135"/>
              <a:ext cx="176100" cy="169800"/>
            </a:xfrm>
            <a:prstGeom prst="donut">
              <a:avLst>
                <a:gd fmla="val 25000" name="adj"/>
              </a:avLst>
            </a:prstGeom>
            <a:noFill/>
            <a:ln cap="flat" cmpd="sng" w="7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100" lIns="85100" spcFirstLastPara="1" rIns="85100" wrap="square" tIns="85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3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10238975" y="1378950"/>
              <a:ext cx="306600" cy="300300"/>
            </a:xfrm>
            <a:prstGeom prst="donut">
              <a:avLst>
                <a:gd fmla="val 11430" name="adj"/>
              </a:avLst>
            </a:prstGeom>
            <a:noFill/>
            <a:ln cap="flat" cmpd="sng" w="7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100" lIns="85100" spcFirstLastPara="1" rIns="85100" wrap="square" tIns="85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3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5" name="Google Shape;125;p14"/>
            <p:cNvCxnSpPr>
              <a:endCxn id="124" idx="4"/>
            </p:cNvCxnSpPr>
            <p:nvPr/>
          </p:nvCxnSpPr>
          <p:spPr>
            <a:xfrm flipH="1">
              <a:off x="10392275" y="1378950"/>
              <a:ext cx="2700" cy="300300"/>
            </a:xfrm>
            <a:prstGeom prst="straightConnector1">
              <a:avLst/>
            </a:prstGeom>
            <a:noFill/>
            <a:ln cap="flat" cmpd="sng" w="77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14"/>
            <p:cNvCxnSpPr>
              <a:stCxn id="124" idx="2"/>
              <a:endCxn id="124" idx="6"/>
            </p:cNvCxnSpPr>
            <p:nvPr/>
          </p:nvCxnSpPr>
          <p:spPr>
            <a:xfrm>
              <a:off x="10238975" y="1529100"/>
              <a:ext cx="306600" cy="0"/>
            </a:xfrm>
            <a:prstGeom prst="straightConnector1">
              <a:avLst/>
            </a:prstGeom>
            <a:noFill/>
            <a:ln cap="flat" cmpd="sng" w="77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" name="Google Shape;127;p14"/>
            <p:cNvSpPr/>
            <p:nvPr/>
          </p:nvSpPr>
          <p:spPr>
            <a:xfrm>
              <a:off x="10441300" y="1432125"/>
              <a:ext cx="12900" cy="12000"/>
            </a:xfrm>
            <a:prstGeom prst="ellipse">
              <a:avLst/>
            </a:prstGeom>
            <a:solidFill>
              <a:schemeClr val="dk2"/>
            </a:solidFill>
            <a:ln cap="flat" cmpd="sng" w="7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225" lIns="74225" spcFirstLastPara="1" rIns="74225" wrap="square" tIns="74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3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10321525" y="1466550"/>
              <a:ext cx="12900" cy="12000"/>
            </a:xfrm>
            <a:prstGeom prst="ellipse">
              <a:avLst/>
            </a:prstGeom>
            <a:solidFill>
              <a:schemeClr val="dk2"/>
            </a:solidFill>
            <a:ln cap="flat" cmpd="sng" w="7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225" lIns="74225" spcFirstLastPara="1" rIns="74225" wrap="square" tIns="74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3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10267675" y="1593675"/>
              <a:ext cx="12900" cy="12000"/>
            </a:xfrm>
            <a:prstGeom prst="ellipse">
              <a:avLst/>
            </a:prstGeom>
            <a:solidFill>
              <a:schemeClr val="dk2"/>
            </a:solidFill>
            <a:ln cap="flat" cmpd="sng" w="7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225" lIns="74225" spcFirstLastPara="1" rIns="74225" wrap="square" tIns="74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37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 title="Screenshot 2026-06-20 at 11.30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8" y="592725"/>
            <a:ext cx="12192001" cy="559297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Repairs per year vs. total in-service cable length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4725" y="6148625"/>
            <a:ext cx="12168300" cy="3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title="03_Notified to Departure_Firefl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675" y="-3"/>
            <a:ext cx="11006659" cy="619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6032206" y="5936675"/>
            <a:ext cx="56661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34343"/>
                </a:solidFill>
              </a:rPr>
              <a:t>Source: International Cable Protection Committee. Modified to Asia-Pacific map centre by Nodalys.</a:t>
            </a:r>
            <a:endParaRPr sz="9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title="Screenshot 2026-06-20 at 11.30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9419"/>
            <a:ext cx="12191999" cy="543663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67575" y="600132"/>
            <a:ext cx="11601600" cy="48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Asia-Middle East repair frequency vs. rest of the </a:t>
            </a:r>
            <a:r>
              <a:rPr lang="en-US" sz="3150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</a:t>
            </a: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orld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272586" y="5816476"/>
            <a:ext cx="56661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22860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34343"/>
                </a:solidFill>
              </a:rPr>
              <a:t>Source: International Cable Protection Committee.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469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5524500" y="3051338"/>
            <a:ext cx="1143000" cy="15900"/>
          </a:xfrm>
          <a:prstGeom prst="rect">
            <a:avLst/>
          </a:prstGeom>
          <a:solidFill>
            <a:srgbClr val="CC3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295275" y="2102633"/>
            <a:ext cx="11601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Cable Damage and Repair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2286075" y="3207750"/>
            <a:ext cx="76200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0E6"/>
                </a:solidFill>
                <a:latin typeface="Montserrat"/>
                <a:ea typeface="Montserrat"/>
                <a:cs typeface="Montserrat"/>
                <a:sym typeface="Montserrat"/>
              </a:rPr>
              <a:t>Scenario Exercise</a:t>
            </a:r>
            <a:endParaRPr b="1" sz="3200"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6343650"/>
            <a:ext cx="10593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nodal</a:t>
            </a:r>
            <a:r>
              <a:rPr b="0" i="0" lang="en-US" sz="1500" u="none" cap="none" strike="noStrike">
                <a:solidFill>
                  <a:srgbClr val="CC3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/</a:t>
            </a: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ys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You are members of the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1162050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Country A Cable Repair Coordination Forum</a:t>
            </a:r>
            <a:endParaRPr sz="3150"/>
          </a:p>
        </p:txBody>
      </p:sp>
      <p:sp>
        <p:nvSpPr>
          <p:cNvPr id="164" name="Google Shape;164;p19"/>
          <p:cNvSpPr txBox="1"/>
          <p:nvPr/>
        </p:nvSpPr>
        <p:spPr>
          <a:xfrm>
            <a:off x="1621400" y="2035075"/>
            <a:ext cx="90945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The Forum convenes government </a:t>
            </a:r>
            <a:r>
              <a:rPr b="1" lang="en-US" sz="2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regulators, cable owners, and </a:t>
            </a:r>
            <a:r>
              <a:rPr b="1" lang="en-US" sz="2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repair </a:t>
            </a:r>
            <a:r>
              <a:rPr b="1" lang="en-US" sz="2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operators </a:t>
            </a:r>
            <a:r>
              <a:rPr lang="en-US" sz="2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to facilitate </a:t>
            </a:r>
            <a:r>
              <a:rPr lang="en-US" sz="2500" u="sng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cross-stakeholder coordination</a:t>
            </a:r>
            <a:r>
              <a:rPr lang="en-US" sz="2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sz="2500" u="sng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harmonisation of regulations and procedures</a:t>
            </a:r>
            <a:r>
              <a:rPr lang="en-US" sz="2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for cable repairs</a:t>
            </a:r>
            <a:r>
              <a:rPr lang="en-US" sz="2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, including technical and logistical aspects, with the aim of addressing issues and providing solutions to support submarine cable maintenance and repair.</a:t>
            </a:r>
            <a:endParaRPr sz="25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/>
        </p:nvSpPr>
        <p:spPr>
          <a:xfrm>
            <a:off x="437175" y="1983487"/>
            <a:ext cx="52389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Country A's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submarine cable has been </a:t>
            </a:r>
            <a:r>
              <a:rPr b="1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cut within its territorial sea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by a ship anchor. It's causing internet slowdowns for businesses and millions of everyday users.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437175" y="3345562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CS RepairShip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can perform the repair. It is flagged to Country Z.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437175" y="4098037"/>
            <a:ext cx="5238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The vessel can be ready to sail within 24 hours, but </a:t>
            </a:r>
            <a:r>
              <a:rPr b="1"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the repair ship operator has some regulatory processes to go through first and will not mobilise until they know they are able to get to the repair site</a:t>
            </a:r>
            <a:r>
              <a:rPr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, fearful of legal penalties or military interception.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Scenario 1: Cable Fault (in territorial sea)</a:t>
            </a:r>
            <a:endParaRPr/>
          </a:p>
        </p:txBody>
      </p:sp>
      <p:pic>
        <p:nvPicPr>
          <p:cNvPr id="173" name="Google Shape;173;p20" title="Scenario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2875" y="2184120"/>
            <a:ext cx="5936700" cy="3339300"/>
          </a:xfrm>
          <a:prstGeom prst="roundRect">
            <a:avLst>
              <a:gd fmla="val 801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99" y="1536220"/>
            <a:ext cx="9356199" cy="451957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Scenario 1 continued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543425" y="1102575"/>
            <a:ext cx="93843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The repair operator encounters the following: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2" title="Screenshot 2026-06-20 at 11.30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4525" y="503006"/>
            <a:ext cx="12982851" cy="5293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Repair Timeline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/>
        </p:nvSpPr>
        <p:spPr>
          <a:xfrm>
            <a:off x="602336" y="2142396"/>
            <a:ext cx="10001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a)</a:t>
            </a:r>
            <a:r>
              <a:rPr b="1" i="0" lang="en-US" sz="17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Agency ping-pong (3 days):</a:t>
            </a:r>
            <a:r>
              <a:rPr b="0" i="0" lang="en-US" sz="17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The operator tries to work out which government ministry is responsible. They get passed around through 4 ministries.</a:t>
            </a:r>
            <a:endParaRPr sz="1700"/>
          </a:p>
        </p:txBody>
      </p:sp>
      <p:sp>
        <p:nvSpPr>
          <p:cNvPr id="192" name="Google Shape;192;p23"/>
          <p:cNvSpPr txBox="1"/>
          <p:nvPr/>
        </p:nvSpPr>
        <p:spPr>
          <a:xfrm>
            <a:off x="602324" y="3142850"/>
            <a:ext cx="106458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b)</a:t>
            </a:r>
            <a:r>
              <a:rPr b="1" i="0" lang="en-US" sz="17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Foreign ship in domestic waters (7 days):</a:t>
            </a:r>
            <a:r>
              <a:rPr b="0" i="0" lang="en-US" sz="17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Cable repair falls under cabotage laws. The ship is foreign-flagged. Country A's laws restrict foreign ships and crew from working in domestic waters.</a:t>
            </a:r>
            <a:endParaRPr sz="1700"/>
          </a:p>
        </p:txBody>
      </p:sp>
      <p:sp>
        <p:nvSpPr>
          <p:cNvPr id="193" name="Google Shape;193;p23"/>
          <p:cNvSpPr txBox="1"/>
          <p:nvPr/>
        </p:nvSpPr>
        <p:spPr>
          <a:xfrm>
            <a:off x="602325" y="4141850"/>
            <a:ext cx="1124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c)</a:t>
            </a:r>
            <a:r>
              <a:rPr b="1" i="0" lang="en-US" sz="17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Equipment import duties (7 days):</a:t>
            </a:r>
            <a:r>
              <a:rPr b="0" i="0" lang="en-US" sz="17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Country A treats spare cables and repeaters as standard commercial imports. Equipment held at port while duties are assessed. Disagreements on item values.</a:t>
            </a:r>
            <a:endParaRPr sz="1700"/>
          </a:p>
        </p:txBody>
      </p:sp>
      <p:sp>
        <p:nvSpPr>
          <p:cNvPr id="194" name="Google Shape;194;p23"/>
          <p:cNvSpPr txBox="1"/>
          <p:nvPr/>
        </p:nvSpPr>
        <p:spPr>
          <a:xfrm>
            <a:off x="602336" y="5143096"/>
            <a:ext cx="10001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d)</a:t>
            </a:r>
            <a:r>
              <a:rPr b="1" i="0" lang="en-US" sz="17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Long processing times (43 days):</a:t>
            </a:r>
            <a:r>
              <a:rPr b="0" i="0" lang="en-US" sz="17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Applications for environmental, spatial, maritime, and security permits. Some are sequential, managed by different departments.</a:t>
            </a:r>
            <a:endParaRPr sz="1700"/>
          </a:p>
        </p:txBody>
      </p:sp>
      <p:sp>
        <p:nvSpPr>
          <p:cNvPr id="195" name="Google Shape;195;p23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CC3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Question 1</a:t>
            </a:r>
            <a:endParaRPr>
              <a:solidFill>
                <a:srgbClr val="CC3399"/>
              </a:solidFill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571500" y="1162050"/>
            <a:ext cx="1104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How would you make the processes (a) - (d) faster and more streamlined so the repair ship can start fixing the fault sooner?</a:t>
            </a:r>
            <a:endParaRPr sz="1800">
              <a:solidFill>
                <a:srgbClr val="5B5B5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/>
        </p:nvSpPr>
        <p:spPr>
          <a:xfrm>
            <a:off x="437175" y="1802634"/>
            <a:ext cx="52389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A fishing trawler has just </a:t>
            </a:r>
            <a:r>
              <a:rPr b="1"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cut through Country A's second submarine cable in Country A's EEZ</a:t>
            </a:r>
            <a:r>
              <a:rPr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. Both cables are now down. </a:t>
            </a:r>
            <a:r>
              <a:rPr lang="en-US" sz="1500" u="sng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The internet is practically unusable</a:t>
            </a:r>
            <a:r>
              <a:rPr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sz="15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437175" y="1083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Scenario 1.5: Cable Fault (in EEZ)</a:t>
            </a:r>
            <a:endParaRPr sz="3150">
              <a:solidFill>
                <a:srgbClr val="CC339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03" name="Google Shape;203;p24" title="Scenario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2875" y="2143004"/>
            <a:ext cx="5936700" cy="3339300"/>
          </a:xfrm>
          <a:prstGeom prst="roundRect">
            <a:avLst>
              <a:gd fmla="val 8016" name="adj"/>
            </a:avLst>
          </a:prstGeom>
          <a:noFill/>
          <a:ln>
            <a:noFill/>
          </a:ln>
        </p:spPr>
      </p:pic>
      <p:pic>
        <p:nvPicPr>
          <p:cNvPr id="204" name="Google Shape;20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275" y="64395"/>
            <a:ext cx="11887198" cy="90998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4"/>
          <p:cNvSpPr txBox="1"/>
          <p:nvPr/>
        </p:nvSpPr>
        <p:spPr>
          <a:xfrm>
            <a:off x="437181" y="3250585"/>
            <a:ext cx="5073900" cy="29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) Customs duties, taxes, and fees for EEZ transit, forced port entry.</a:t>
            </a:r>
            <a:r>
              <a:rPr b="1" lang="en-US" sz="1500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(3 days)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Despite the fault being in the EEZ, Country A requires the vessel to make a detour and dock at port to clear immigration, pay port fees, and formally process the temporary importation of the subsea cable equipment spares. </a:t>
            </a:r>
            <a:endParaRPr sz="15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This adds 3 days in addition to the other processes in Question 1.</a:t>
            </a:r>
            <a:endParaRPr sz="15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350" y="2097475"/>
            <a:ext cx="10838651" cy="415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5"/>
          <p:cNvSpPr txBox="1"/>
          <p:nvPr/>
        </p:nvSpPr>
        <p:spPr>
          <a:xfrm>
            <a:off x="595266" y="2196161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a)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Agency ping-pong (3 days):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The operator tries to work out which government ministry is responsible. They get passed around through 4 ministries.</a:t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595266" y="2966115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b)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Foreign ship in domestic waters (7 days):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Cable repair falls under cabotage laws. The ship is foreign-flagged. Country A's laws restrict foreign ships and crew from working in domestic waters.</a:t>
            </a:r>
            <a:endParaRPr/>
          </a:p>
        </p:txBody>
      </p:sp>
      <p:sp>
        <p:nvSpPr>
          <p:cNvPr id="213" name="Google Shape;213;p25"/>
          <p:cNvSpPr txBox="1"/>
          <p:nvPr/>
        </p:nvSpPr>
        <p:spPr>
          <a:xfrm>
            <a:off x="595266" y="3736068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c)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Equipment import duties (7 days):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Country A treats spare cables and repeaters as standard commercial imports. Equipment held at port while duties are assessed. Disagreements on item values.</a:t>
            </a:r>
            <a:endParaRPr/>
          </a:p>
        </p:txBody>
      </p:sp>
      <p:sp>
        <p:nvSpPr>
          <p:cNvPr id="214" name="Google Shape;214;p25"/>
          <p:cNvSpPr txBox="1"/>
          <p:nvPr/>
        </p:nvSpPr>
        <p:spPr>
          <a:xfrm>
            <a:off x="595266" y="4470672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d)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Long processing times (43 days):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Applications for environmental, spatial, maritime, and security permits. Some are sequential, managed by different departments.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CC3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Question 1 &amp; 2</a:t>
            </a:r>
            <a:endParaRPr>
              <a:solidFill>
                <a:srgbClr val="CC3399"/>
              </a:solidFill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571500" y="1162050"/>
            <a:ext cx="11049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How would you make the processes (a) - (</a:t>
            </a:r>
            <a:r>
              <a:rPr b="1" lang="en-US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1" i="0" lang="en-US" sz="18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) faster and more streamlined so the repair ship can start fixing the fault sooner?</a:t>
            </a:r>
            <a:endParaRPr sz="1800">
              <a:solidFill>
                <a:srgbClr val="5B5B5B"/>
              </a:solidFill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595275" y="5209000"/>
            <a:ext cx="10947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1" i="0" lang="en-US" sz="15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1500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Port entry for cable fault in EEZ (3 days)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Despite the fault being in the EEZ, Country A requires the vessel to make a detour and dock at port to clear immigration, pay port fees, and formally process the temporary importation of the subsea cable equipment spares. </a:t>
            </a:r>
            <a:endParaRPr sz="15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10730"/>
            <a:ext cx="34290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510730"/>
            <a:ext cx="34290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510730"/>
            <a:ext cx="342900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6"/>
          <p:cNvSpPr txBox="1"/>
          <p:nvPr/>
        </p:nvSpPr>
        <p:spPr>
          <a:xfrm>
            <a:off x="1314450" y="3739825"/>
            <a:ext cx="194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a) </a:t>
            </a:r>
            <a:r>
              <a:rPr lang="en-US" sz="2100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Motivation</a:t>
            </a:r>
            <a:endParaRPr/>
          </a:p>
        </p:txBody>
      </p:sp>
      <p:sp>
        <p:nvSpPr>
          <p:cNvPr id="226" name="Google Shape;226;p26"/>
          <p:cNvSpPr txBox="1"/>
          <p:nvPr/>
        </p:nvSpPr>
        <p:spPr>
          <a:xfrm>
            <a:off x="866775" y="4206180"/>
            <a:ext cx="283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What were the key triggers that motivated change?</a:t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5085873" y="3739455"/>
            <a:ext cx="20202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C3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b) Challenges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4676775" y="4206180"/>
            <a:ext cx="2838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What challenges were faced, and how were they overcome?</a:t>
            </a:r>
            <a:endParaRPr/>
          </a:p>
        </p:txBody>
      </p:sp>
      <p:sp>
        <p:nvSpPr>
          <p:cNvPr id="229" name="Google Shape;229;p26"/>
          <p:cNvSpPr txBox="1"/>
          <p:nvPr/>
        </p:nvSpPr>
        <p:spPr>
          <a:xfrm>
            <a:off x="9085897" y="3739455"/>
            <a:ext cx="16402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B5B5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c) Ongoing</a:t>
            </a:r>
            <a:endParaRPr/>
          </a:p>
        </p:txBody>
      </p:sp>
      <p:sp>
        <p:nvSpPr>
          <p:cNvPr id="230" name="Google Shape;230;p26"/>
          <p:cNvSpPr txBox="1"/>
          <p:nvPr/>
        </p:nvSpPr>
        <p:spPr>
          <a:xfrm>
            <a:off x="8486775" y="4206180"/>
            <a:ext cx="283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What challenges do you continue to face?</a:t>
            </a:r>
            <a:endParaRPr/>
          </a:p>
        </p:txBody>
      </p:sp>
      <p:pic>
        <p:nvPicPr>
          <p:cNvPr descr="image.png" id="231" name="Google Shape;23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4550" y="298698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298698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0" y="298698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6"/>
          <p:cNvSpPr txBox="1"/>
          <p:nvPr/>
        </p:nvSpPr>
        <p:spPr>
          <a:xfrm>
            <a:off x="571500" y="571500"/>
            <a:ext cx="11601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CC3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Question 3:</a:t>
            </a: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Reflecting on your own country</a:t>
            </a:r>
            <a:r>
              <a:rPr lang="en-US" sz="3150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’s e</a:t>
            </a: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xperience</a:t>
            </a:r>
            <a:r>
              <a:rPr lang="en-US" sz="3150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…</a:t>
            </a:r>
            <a:endParaRPr/>
          </a:p>
        </p:txBody>
      </p:sp>
      <p:sp>
        <p:nvSpPr>
          <p:cNvPr id="235" name="Google Shape;235;p26"/>
          <p:cNvSpPr txBox="1"/>
          <p:nvPr/>
        </p:nvSpPr>
        <p:spPr>
          <a:xfrm>
            <a:off x="571500" y="1590591"/>
            <a:ext cx="11049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Has your country adopted or tried to adopt any practices to streamline or expedite cable repairs? If so...</a:t>
            </a:r>
            <a:endParaRPr b="1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