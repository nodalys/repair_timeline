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embeddedFontLst>
    <p:embeddedFont>
      <p:font typeface="Montserrat SemiBold"/>
      <p:regular r:id="rId19"/>
      <p:bold r:id="rId20"/>
      <p:italic r:id="rId21"/>
      <p:boldItalic r:id="rId22"/>
    </p:embeddedFont>
    <p:embeddedFont>
      <p:font typeface="Montserrat"/>
      <p:regular r:id="rId23"/>
      <p:bold r:id="rId24"/>
      <p:italic r:id="rId25"/>
      <p:boldItalic r:id="rId26"/>
    </p:embeddedFont>
    <p:embeddedFont>
      <p:font typeface="Montserrat ExtraBold"/>
      <p:bold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SemiBold-bold.fntdata"/><Relationship Id="rId22" Type="http://schemas.openxmlformats.org/officeDocument/2006/relationships/font" Target="fonts/MontserratSemiBold-boldItalic.fntdata"/><Relationship Id="rId21" Type="http://schemas.openxmlformats.org/officeDocument/2006/relationships/font" Target="fonts/MontserratSemiBold-italic.fntdata"/><Relationship Id="rId24" Type="http://schemas.openxmlformats.org/officeDocument/2006/relationships/font" Target="fonts/Montserrat-bold.fntdata"/><Relationship Id="rId23" Type="http://schemas.openxmlformats.org/officeDocument/2006/relationships/font" Target="fonts/Montserrat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-boldItalic.fntdata"/><Relationship Id="rId25" Type="http://schemas.openxmlformats.org/officeDocument/2006/relationships/font" Target="fonts/Montserrat-italic.fntdata"/><Relationship Id="rId28" Type="http://schemas.openxmlformats.org/officeDocument/2006/relationships/font" Target="fonts/MontserratExtraBold-boldItalic.fntdata"/><Relationship Id="rId27" Type="http://schemas.openxmlformats.org/officeDocument/2006/relationships/font" Target="fonts/MontserratExtraBo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MontserratSemiBold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f20f963d3b_3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g3f20f963d3b_3_1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f20f963d3b_3_17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f20f963d3b_3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f20f963d3b_3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g3f20f963d3b_3_1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f20f963d3b_3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g3f20f963d3b_3_1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f210cef7b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g3f210cef7be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8" name="Google Shape;38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9" name="Google Shape;39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9" name="Google Shape;59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0" name="Google Shape;60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7" name="Google Shape;67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" name="Google Shape;11;p1"/>
          <p:cNvSpPr txBox="1"/>
          <p:nvPr/>
        </p:nvSpPr>
        <p:spPr>
          <a:xfrm>
            <a:off x="571500" y="6343650"/>
            <a:ext cx="1716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nodal</a:t>
            </a:r>
            <a:r>
              <a:rPr b="0" i="0" lang="en-US" sz="1500" u="none" cap="none" strike="noStrike">
                <a:solidFill>
                  <a:srgbClr val="CC3399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/</a:t>
            </a:r>
            <a:r>
              <a:rPr b="0" i="0" lang="en-US" sz="1500" u="none" cap="none" strike="noStrike">
                <a:solidFill>
                  <a:srgbClr val="99999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ys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12" name="Google Shape;12;p1"/>
          <p:cNvSpPr txBox="1"/>
          <p:nvPr/>
        </p:nvSpPr>
        <p:spPr>
          <a:xfrm>
            <a:off x="7791450" y="6372225"/>
            <a:ext cx="3829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99999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https://www.nodalys.com.au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10" Type="http://schemas.openxmlformats.org/officeDocument/2006/relationships/image" Target="../media/image3.png"/><Relationship Id="rId9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4.png"/><Relationship Id="rId7" Type="http://schemas.openxmlformats.org/officeDocument/2006/relationships/image" Target="../media/image2.png"/><Relationship Id="rId8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Relationship Id="rId4" Type="http://schemas.openxmlformats.org/officeDocument/2006/relationships/image" Target="../media/image18.png"/><Relationship Id="rId5" Type="http://schemas.openxmlformats.org/officeDocument/2006/relationships/image" Target="../media/image13.png"/><Relationship Id="rId6" Type="http://schemas.openxmlformats.org/officeDocument/2006/relationships/image" Target="../media/image10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74690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/>
          <p:nvPr/>
        </p:nvSpPr>
        <p:spPr>
          <a:xfrm>
            <a:off x="5524500" y="857250"/>
            <a:ext cx="1143000" cy="15900"/>
          </a:xfrm>
          <a:prstGeom prst="rect">
            <a:avLst/>
          </a:prstGeom>
          <a:solidFill>
            <a:srgbClr val="CC33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295275" y="1158775"/>
            <a:ext cx="116016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Session 6: </a:t>
            </a:r>
            <a:endParaRPr sz="525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Cable Damage and Repair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286000" y="4092475"/>
            <a:ext cx="7620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5F0E6"/>
                </a:solidFill>
                <a:latin typeface="Montserrat"/>
                <a:ea typeface="Montserrat"/>
                <a:cs typeface="Montserrat"/>
                <a:sym typeface="Montserrat"/>
              </a:rPr>
              <a:t>Case Study Breakout Session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571500" y="6343650"/>
            <a:ext cx="1059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nodal</a:t>
            </a:r>
            <a:r>
              <a:rPr b="0" i="0" lang="en-US" sz="1500" u="none" cap="none" strike="noStrike">
                <a:solidFill>
                  <a:srgbClr val="CC3399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/</a:t>
            </a:r>
            <a:r>
              <a:rPr b="0" i="0" lang="en-US" sz="150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ys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9563500" y="6372225"/>
            <a:ext cx="2163600" cy="161700"/>
          </a:xfrm>
          <a:prstGeom prst="rect">
            <a:avLst/>
          </a:prstGeom>
          <a:solidFill>
            <a:srgbClr val="274690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Facilitator: Jocelinn Kang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9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51962" y="827374"/>
            <a:ext cx="3286113" cy="244651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6619865" y="1869439"/>
            <a:ext cx="31503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27469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Detect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6694875" y="2327579"/>
            <a:ext cx="30003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B5B5B"/>
                </a:solidFill>
                <a:latin typeface="Montserrat"/>
                <a:ea typeface="Montserrat"/>
                <a:cs typeface="Montserrat"/>
                <a:sym typeface="Montserrat"/>
              </a:rPr>
              <a:t>Monitoring, Threat alerts</a:t>
            </a:r>
            <a:r>
              <a:rPr lang="en-US" sz="1200">
                <a:solidFill>
                  <a:srgbClr val="5B5B5B"/>
                </a:solidFill>
                <a:latin typeface="Montserrat"/>
                <a:ea typeface="Montserrat"/>
                <a:cs typeface="Montserrat"/>
                <a:sym typeface="Montserrat"/>
              </a:rPr>
              <a:t>,</a:t>
            </a:r>
            <a:r>
              <a:rPr b="0" i="0" lang="en-US" sz="1200" u="none" cap="none" strike="noStrike">
                <a:solidFill>
                  <a:srgbClr val="5B5B5B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0" i="0" sz="1200" u="none" cap="none" strike="noStrike">
              <a:solidFill>
                <a:srgbClr val="5B5B5B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B5B5B"/>
                </a:solidFill>
                <a:latin typeface="Montserrat"/>
                <a:ea typeface="Montserrat"/>
                <a:cs typeface="Montserrat"/>
                <a:sym typeface="Montserrat"/>
              </a:rPr>
              <a:t>Notification</a:t>
            </a:r>
            <a:endParaRPr/>
          </a:p>
        </p:txBody>
      </p:sp>
      <p:grpSp>
        <p:nvGrpSpPr>
          <p:cNvPr id="98" name="Google Shape;98;p14"/>
          <p:cNvGrpSpPr/>
          <p:nvPr/>
        </p:nvGrpSpPr>
        <p:grpSpPr>
          <a:xfrm>
            <a:off x="2286000" y="796349"/>
            <a:ext cx="3286113" cy="2446510"/>
            <a:chOff x="2286000" y="796349"/>
            <a:chExt cx="3286113" cy="2446510"/>
          </a:xfrm>
        </p:grpSpPr>
        <p:pic>
          <p:nvPicPr>
            <p:cNvPr descr="image.png" id="99" name="Google Shape;99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666172" y="1199446"/>
              <a:ext cx="525778" cy="5257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.png" id="100" name="Google Shape;100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286000" y="796349"/>
              <a:ext cx="3286113" cy="244651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" name="Google Shape;101;p14"/>
            <p:cNvSpPr txBox="1"/>
            <p:nvPr/>
          </p:nvSpPr>
          <p:spPr>
            <a:xfrm>
              <a:off x="2479881" y="1900483"/>
              <a:ext cx="2898300" cy="27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794" u="none" cap="none" strike="noStrike">
                  <a:solidFill>
                    <a:srgbClr val="274690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Prevent</a:t>
              </a:r>
              <a:endParaRPr sz="1288"/>
            </a:p>
          </p:txBody>
        </p:sp>
        <p:sp>
          <p:nvSpPr>
            <p:cNvPr id="102" name="Google Shape;102;p14"/>
            <p:cNvSpPr txBox="1"/>
            <p:nvPr/>
          </p:nvSpPr>
          <p:spPr>
            <a:xfrm>
              <a:off x="2548890" y="2312342"/>
              <a:ext cx="2760300" cy="48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4" u="none" cap="none" strike="noStrike">
                  <a:solidFill>
                    <a:srgbClr val="5B5B5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Protection</a:t>
              </a:r>
              <a:r>
                <a:rPr lang="en-US" sz="1204">
                  <a:solidFill>
                    <a:srgbClr val="5B5B5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,</a:t>
              </a:r>
              <a:r>
                <a:rPr b="0" i="0" lang="en-US" sz="1204" u="none" cap="none" strike="noStrike">
                  <a:solidFill>
                    <a:srgbClr val="5B5B5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endParaRPr b="0" i="0" sz="1204" u="none" cap="none" strike="noStrike">
                <a:solidFill>
                  <a:srgbClr val="5B5B5B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ctr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4" u="none" cap="none" strike="noStrike">
                  <a:solidFill>
                    <a:srgbClr val="5B5B5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Risk reduction</a:t>
              </a:r>
              <a:endParaRPr sz="1388"/>
            </a:p>
          </p:txBody>
        </p:sp>
        <p:pic>
          <p:nvPicPr>
            <p:cNvPr descr="image.png" id="103" name="Google Shape;103;p1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823906" y="1357179"/>
              <a:ext cx="210311" cy="21031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4" name="Google Shape;104;p14"/>
          <p:cNvGrpSpPr/>
          <p:nvPr/>
        </p:nvGrpSpPr>
        <p:grpSpPr>
          <a:xfrm>
            <a:off x="2286000" y="3868866"/>
            <a:ext cx="3286125" cy="2446510"/>
            <a:chOff x="2286000" y="3868866"/>
            <a:chExt cx="3286125" cy="2446510"/>
          </a:xfrm>
        </p:grpSpPr>
        <p:pic>
          <p:nvPicPr>
            <p:cNvPr descr="image.png" id="105" name="Google Shape;105;p1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748687" y="4094275"/>
              <a:ext cx="571500" cy="571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.png" id="106" name="Google Shape;106;p1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286000" y="3868866"/>
              <a:ext cx="3286125" cy="244651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7" name="Google Shape;107;p14"/>
            <p:cNvSpPr txBox="1"/>
            <p:nvPr/>
          </p:nvSpPr>
          <p:spPr>
            <a:xfrm>
              <a:off x="2353920" y="4837713"/>
              <a:ext cx="3150300" cy="3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50" u="none" cap="none" strike="noStrike">
                  <a:solidFill>
                    <a:srgbClr val="CC3399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Recover</a:t>
              </a:r>
              <a:endParaRPr/>
            </a:p>
          </p:txBody>
        </p:sp>
        <p:sp>
          <p:nvSpPr>
            <p:cNvPr id="108" name="Google Shape;108;p14"/>
            <p:cNvSpPr txBox="1"/>
            <p:nvPr/>
          </p:nvSpPr>
          <p:spPr>
            <a:xfrm>
              <a:off x="2428930" y="5285388"/>
              <a:ext cx="3000300" cy="48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5B5B5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Restore service</a:t>
              </a:r>
              <a:r>
                <a:rPr lang="en-US" sz="1200">
                  <a:solidFill>
                    <a:srgbClr val="5B5B5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,</a:t>
              </a:r>
              <a:r>
                <a:rPr b="0" i="0" lang="en-US" sz="1200" u="none" cap="none" strike="noStrike">
                  <a:solidFill>
                    <a:srgbClr val="5B5B5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endParaRPr b="0" i="0" sz="1200" u="none" cap="none" strike="noStrike">
                <a:solidFill>
                  <a:srgbClr val="5B5B5B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ctr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5B5B5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Share and integrate learnings</a:t>
              </a:r>
              <a:endParaRPr/>
            </a:p>
          </p:txBody>
        </p:sp>
        <p:pic>
          <p:nvPicPr>
            <p:cNvPr descr="image.png" id="109" name="Google Shape;109;p1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800530" y="4247163"/>
              <a:ext cx="257175" cy="228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0" name="Google Shape;110;p14"/>
          <p:cNvGrpSpPr/>
          <p:nvPr/>
        </p:nvGrpSpPr>
        <p:grpSpPr>
          <a:xfrm>
            <a:off x="6619875" y="3868868"/>
            <a:ext cx="3286125" cy="2446510"/>
            <a:chOff x="6619875" y="3868868"/>
            <a:chExt cx="3286125" cy="2446510"/>
          </a:xfrm>
        </p:grpSpPr>
        <p:pic>
          <p:nvPicPr>
            <p:cNvPr descr="image.png" id="111" name="Google Shape;111;p1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834312" y="4094277"/>
              <a:ext cx="571500" cy="571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.png" id="112" name="Google Shape;112;p14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6619875" y="3868868"/>
              <a:ext cx="3286125" cy="244651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" name="Google Shape;113;p14"/>
            <p:cNvSpPr txBox="1"/>
            <p:nvPr/>
          </p:nvSpPr>
          <p:spPr>
            <a:xfrm>
              <a:off x="6687790" y="4819152"/>
              <a:ext cx="3150300" cy="3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50" u="none" cap="none" strike="noStrike">
                  <a:solidFill>
                    <a:srgbClr val="CC3399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Respond</a:t>
              </a:r>
              <a:endParaRPr/>
            </a:p>
          </p:txBody>
        </p:sp>
        <p:sp>
          <p:nvSpPr>
            <p:cNvPr id="114" name="Google Shape;114;p14"/>
            <p:cNvSpPr txBox="1"/>
            <p:nvPr/>
          </p:nvSpPr>
          <p:spPr>
            <a:xfrm>
              <a:off x="6762800" y="5266827"/>
              <a:ext cx="3000300" cy="48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5B5B5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Address threat, Permitting, </a:t>
              </a:r>
              <a:endParaRPr b="0" i="0" sz="1200" u="none" cap="none" strike="noStrike">
                <a:solidFill>
                  <a:srgbClr val="5B5B5B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ctr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rgbClr val="5B5B5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Mobilise repair vessel</a:t>
              </a:r>
              <a:endParaRPr/>
            </a:p>
          </p:txBody>
        </p:sp>
        <p:pic>
          <p:nvPicPr>
            <p:cNvPr descr="image.png" id="115" name="Google Shape;115;p14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8134400" y="4228602"/>
              <a:ext cx="257175" cy="228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6" name="Google Shape;116;p14"/>
          <p:cNvSpPr txBox="1"/>
          <p:nvPr/>
        </p:nvSpPr>
        <p:spPr>
          <a:xfrm>
            <a:off x="295275" y="174968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27469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The Resilience Cycle</a:t>
            </a:r>
            <a:endParaRPr/>
          </a:p>
        </p:txBody>
      </p:sp>
      <p:cxnSp>
        <p:nvCxnSpPr>
          <p:cNvPr id="117" name="Google Shape;117;p14"/>
          <p:cNvCxnSpPr>
            <a:endCxn id="112" idx="0"/>
          </p:cNvCxnSpPr>
          <p:nvPr/>
        </p:nvCxnSpPr>
        <p:spPr>
          <a:xfrm>
            <a:off x="8262938" y="3242768"/>
            <a:ext cx="0" cy="626100"/>
          </a:xfrm>
          <a:prstGeom prst="straightConnector1">
            <a:avLst/>
          </a:prstGeom>
          <a:noFill/>
          <a:ln cap="flat" cmpd="sng" w="28575">
            <a:solidFill>
              <a:srgbClr val="75757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8" name="Google Shape;118;p14"/>
          <p:cNvCxnSpPr>
            <a:stCxn id="106" idx="0"/>
            <a:endCxn id="100" idx="2"/>
          </p:cNvCxnSpPr>
          <p:nvPr/>
        </p:nvCxnSpPr>
        <p:spPr>
          <a:xfrm rot="10800000">
            <a:off x="3929063" y="3242766"/>
            <a:ext cx="0" cy="626100"/>
          </a:xfrm>
          <a:prstGeom prst="straightConnector1">
            <a:avLst/>
          </a:prstGeom>
          <a:noFill/>
          <a:ln cap="flat" cmpd="sng" w="28575">
            <a:solidFill>
              <a:srgbClr val="75757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9" name="Google Shape;119;p14"/>
          <p:cNvCxnSpPr>
            <a:stCxn id="112" idx="1"/>
            <a:endCxn id="106" idx="3"/>
          </p:cNvCxnSpPr>
          <p:nvPr/>
        </p:nvCxnSpPr>
        <p:spPr>
          <a:xfrm rot="10800000">
            <a:off x="5572275" y="5092123"/>
            <a:ext cx="1047600" cy="0"/>
          </a:xfrm>
          <a:prstGeom prst="straightConnector1">
            <a:avLst/>
          </a:prstGeom>
          <a:noFill/>
          <a:ln cap="flat" cmpd="sng" w="28575">
            <a:solidFill>
              <a:srgbClr val="75757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" name="Google Shape;120;p14"/>
          <p:cNvCxnSpPr>
            <a:stCxn id="100" idx="3"/>
          </p:cNvCxnSpPr>
          <p:nvPr/>
        </p:nvCxnSpPr>
        <p:spPr>
          <a:xfrm flipH="1" rot="10800000">
            <a:off x="5572113" y="2016904"/>
            <a:ext cx="974100" cy="2700"/>
          </a:xfrm>
          <a:prstGeom prst="straightConnector1">
            <a:avLst/>
          </a:prstGeom>
          <a:noFill/>
          <a:ln cap="flat" cmpd="sng" w="28575">
            <a:solidFill>
              <a:srgbClr val="757575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21" name="Google Shape;121;p14"/>
          <p:cNvGrpSpPr/>
          <p:nvPr/>
        </p:nvGrpSpPr>
        <p:grpSpPr>
          <a:xfrm>
            <a:off x="8138492" y="1360498"/>
            <a:ext cx="248898" cy="244052"/>
            <a:chOff x="10238975" y="1378619"/>
            <a:chExt cx="306600" cy="300631"/>
          </a:xfrm>
        </p:grpSpPr>
        <p:sp>
          <p:nvSpPr>
            <p:cNvPr id="122" name="Google Shape;122;p14"/>
            <p:cNvSpPr/>
            <p:nvPr/>
          </p:nvSpPr>
          <p:spPr>
            <a:xfrm rot="9809738">
              <a:off x="10298317" y="1397447"/>
              <a:ext cx="152065" cy="135745"/>
            </a:xfrm>
            <a:prstGeom prst="triangle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rgbClr val="6E9CE7"/>
                </a:gs>
              </a:gsLst>
              <a:lin ang="8100019" scaled="0"/>
            </a:gradFill>
            <a:ln>
              <a:noFill/>
            </a:ln>
          </p:spPr>
          <p:txBody>
            <a:bodyPr anchorCtr="0" anchor="ctr" bIns="74225" lIns="74225" spcFirstLastPara="1" rIns="74225" wrap="square" tIns="74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37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14"/>
            <p:cNvSpPr/>
            <p:nvPr/>
          </p:nvSpPr>
          <p:spPr>
            <a:xfrm>
              <a:off x="10304160" y="1444135"/>
              <a:ext cx="176100" cy="169800"/>
            </a:xfrm>
            <a:prstGeom prst="donut">
              <a:avLst>
                <a:gd fmla="val 25000" name="adj"/>
              </a:avLst>
            </a:prstGeom>
            <a:noFill/>
            <a:ln cap="flat" cmpd="sng" w="77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5100" lIns="85100" spcFirstLastPara="1" rIns="85100" wrap="square" tIns="851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3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14"/>
            <p:cNvSpPr/>
            <p:nvPr/>
          </p:nvSpPr>
          <p:spPr>
            <a:xfrm>
              <a:off x="10238975" y="1378950"/>
              <a:ext cx="306600" cy="300300"/>
            </a:xfrm>
            <a:prstGeom prst="donut">
              <a:avLst>
                <a:gd fmla="val 11430" name="adj"/>
              </a:avLst>
            </a:prstGeom>
            <a:noFill/>
            <a:ln cap="flat" cmpd="sng" w="77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5100" lIns="85100" spcFirstLastPara="1" rIns="85100" wrap="square" tIns="851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3"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25" name="Google Shape;125;p14"/>
            <p:cNvCxnSpPr>
              <a:endCxn id="124" idx="4"/>
            </p:cNvCxnSpPr>
            <p:nvPr/>
          </p:nvCxnSpPr>
          <p:spPr>
            <a:xfrm flipH="1">
              <a:off x="10392275" y="1378950"/>
              <a:ext cx="2700" cy="300300"/>
            </a:xfrm>
            <a:prstGeom prst="straightConnector1">
              <a:avLst/>
            </a:prstGeom>
            <a:noFill/>
            <a:ln cap="flat" cmpd="sng" w="77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6" name="Google Shape;126;p14"/>
            <p:cNvCxnSpPr>
              <a:stCxn id="124" idx="2"/>
              <a:endCxn id="124" idx="6"/>
            </p:cNvCxnSpPr>
            <p:nvPr/>
          </p:nvCxnSpPr>
          <p:spPr>
            <a:xfrm>
              <a:off x="10238975" y="1529100"/>
              <a:ext cx="306600" cy="0"/>
            </a:xfrm>
            <a:prstGeom prst="straightConnector1">
              <a:avLst/>
            </a:prstGeom>
            <a:noFill/>
            <a:ln cap="flat" cmpd="sng" w="77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7" name="Google Shape;127;p14"/>
            <p:cNvSpPr/>
            <p:nvPr/>
          </p:nvSpPr>
          <p:spPr>
            <a:xfrm>
              <a:off x="10441300" y="1432125"/>
              <a:ext cx="12900" cy="12000"/>
            </a:xfrm>
            <a:prstGeom prst="ellipse">
              <a:avLst/>
            </a:prstGeom>
            <a:solidFill>
              <a:schemeClr val="dk2"/>
            </a:solidFill>
            <a:ln cap="flat" cmpd="sng" w="77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4225" lIns="74225" spcFirstLastPara="1" rIns="74225" wrap="square" tIns="74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37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p14"/>
            <p:cNvSpPr/>
            <p:nvPr/>
          </p:nvSpPr>
          <p:spPr>
            <a:xfrm>
              <a:off x="10321525" y="1466550"/>
              <a:ext cx="12900" cy="12000"/>
            </a:xfrm>
            <a:prstGeom prst="ellipse">
              <a:avLst/>
            </a:prstGeom>
            <a:solidFill>
              <a:schemeClr val="dk2"/>
            </a:solidFill>
            <a:ln cap="flat" cmpd="sng" w="77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4225" lIns="74225" spcFirstLastPara="1" rIns="74225" wrap="square" tIns="74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37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Google Shape;129;p14"/>
            <p:cNvSpPr/>
            <p:nvPr/>
          </p:nvSpPr>
          <p:spPr>
            <a:xfrm>
              <a:off x="10267675" y="1593675"/>
              <a:ext cx="12900" cy="12000"/>
            </a:xfrm>
            <a:prstGeom prst="ellipse">
              <a:avLst/>
            </a:prstGeom>
            <a:solidFill>
              <a:schemeClr val="dk2"/>
            </a:solidFill>
            <a:ln cap="flat" cmpd="sng" w="77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4225" lIns="74225" spcFirstLastPara="1" rIns="74225" wrap="square" tIns="74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37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5" title="Screenshot 2026-06-20 at 11.30.0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8" y="592725"/>
            <a:ext cx="12192001" cy="559297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5"/>
          <p:cNvSpPr txBox="1"/>
          <p:nvPr/>
        </p:nvSpPr>
        <p:spPr>
          <a:xfrm>
            <a:off x="571500" y="571500"/>
            <a:ext cx="11601600" cy="484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27469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Repairs per year vs. total in-service cable length</a:t>
            </a:r>
            <a:endParaRPr/>
          </a:p>
        </p:txBody>
      </p:sp>
      <p:sp>
        <p:nvSpPr>
          <p:cNvPr id="136" name="Google Shape;136;p15"/>
          <p:cNvSpPr/>
          <p:nvPr/>
        </p:nvSpPr>
        <p:spPr>
          <a:xfrm>
            <a:off x="4725" y="6148625"/>
            <a:ext cx="12168300" cy="37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16" title="03_Notified to Departure_Firefly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2675" y="-3"/>
            <a:ext cx="11006659" cy="6191251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6"/>
          <p:cNvSpPr txBox="1"/>
          <p:nvPr/>
        </p:nvSpPr>
        <p:spPr>
          <a:xfrm>
            <a:off x="6032206" y="5936675"/>
            <a:ext cx="56661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228600" marR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rgbClr val="434343"/>
                </a:solidFill>
              </a:rPr>
              <a:t>Source: International Cable Protection Committee. Modified to Asia-Pacific map centre by Nodalys.</a:t>
            </a:r>
            <a:endParaRPr sz="9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17" title="Screenshot 2026-06-20 at 11.30.1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89419"/>
            <a:ext cx="12191999" cy="5436636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7"/>
          <p:cNvSpPr txBox="1"/>
          <p:nvPr/>
        </p:nvSpPr>
        <p:spPr>
          <a:xfrm>
            <a:off x="567575" y="600132"/>
            <a:ext cx="11601600" cy="484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27469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Asia-Middle East repair frequency vs. rest of the </a:t>
            </a:r>
            <a:r>
              <a:rPr lang="en-US" sz="3150">
                <a:solidFill>
                  <a:srgbClr val="27469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w</a:t>
            </a:r>
            <a:r>
              <a:rPr b="0" i="0" lang="en-US" sz="3150" u="none" cap="none" strike="noStrike">
                <a:solidFill>
                  <a:srgbClr val="27469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orld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6272586" y="5816476"/>
            <a:ext cx="56661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228600" marR="22860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34343"/>
                </a:solidFill>
              </a:rPr>
              <a:t>Source: International Cable Protection Committee.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9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8"/>
          <p:cNvSpPr txBox="1"/>
          <p:nvPr/>
        </p:nvSpPr>
        <p:spPr>
          <a:xfrm>
            <a:off x="437175" y="1983487"/>
            <a:ext cx="52389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5B5B5B"/>
                </a:solidFill>
                <a:latin typeface="Montserrat"/>
                <a:ea typeface="Montserrat"/>
                <a:cs typeface="Montserrat"/>
                <a:sym typeface="Montserrat"/>
              </a:rPr>
              <a:t>Country A's</a:t>
            </a:r>
            <a:r>
              <a:rPr b="0" i="0" lang="en-US" sz="1500" u="none" cap="none" strike="noStrike">
                <a:solidFill>
                  <a:srgbClr val="5B5B5B"/>
                </a:solidFill>
                <a:latin typeface="Montserrat"/>
                <a:ea typeface="Montserrat"/>
                <a:cs typeface="Montserrat"/>
                <a:sym typeface="Montserrat"/>
              </a:rPr>
              <a:t> submarine cable has been cut within its territorial sea by a ship anchor. It's causing internet slowdowns for businesses and millions of everyday users.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437175" y="3345562"/>
            <a:ext cx="52389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B5B5B"/>
                </a:solidFill>
                <a:latin typeface="Montserrat"/>
                <a:ea typeface="Montserrat"/>
                <a:cs typeface="Montserrat"/>
                <a:sym typeface="Montserrat"/>
              </a:rPr>
              <a:t>The </a:t>
            </a:r>
            <a:r>
              <a:rPr b="1" i="0" lang="en-US" sz="1500" u="none" cap="none" strike="noStrike">
                <a:solidFill>
                  <a:srgbClr val="5B5B5B"/>
                </a:solidFill>
                <a:latin typeface="Montserrat"/>
                <a:ea typeface="Montserrat"/>
                <a:cs typeface="Montserrat"/>
                <a:sym typeface="Montserrat"/>
              </a:rPr>
              <a:t>CS RepairShip</a:t>
            </a:r>
            <a:r>
              <a:rPr b="0" i="0" lang="en-US" sz="1500" u="none" cap="none" strike="noStrike">
                <a:solidFill>
                  <a:srgbClr val="5B5B5B"/>
                </a:solidFill>
                <a:latin typeface="Montserrat"/>
                <a:ea typeface="Montserrat"/>
                <a:cs typeface="Montserrat"/>
                <a:sym typeface="Montserrat"/>
              </a:rPr>
              <a:t> can perform the repair. It is flagged to Country Z.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437175" y="4098037"/>
            <a:ext cx="52389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5B5B5B"/>
                </a:solidFill>
                <a:latin typeface="Montserrat"/>
                <a:ea typeface="Montserrat"/>
                <a:cs typeface="Montserrat"/>
                <a:sym typeface="Montserrat"/>
              </a:rPr>
              <a:t>The vessel can be ready to sail within 24 hours, but </a:t>
            </a:r>
            <a:r>
              <a:rPr b="1" lang="en-US" sz="1500">
                <a:solidFill>
                  <a:srgbClr val="5B5B5B"/>
                </a:solidFill>
                <a:latin typeface="Montserrat"/>
                <a:ea typeface="Montserrat"/>
                <a:cs typeface="Montserrat"/>
                <a:sym typeface="Montserrat"/>
              </a:rPr>
              <a:t>the repair ship operator has some regulatory processes to go through first and will not mobilise until they know they are able to get to the repair site</a:t>
            </a:r>
            <a:r>
              <a:rPr lang="en-US" sz="1500">
                <a:solidFill>
                  <a:srgbClr val="5B5B5B"/>
                </a:solidFill>
                <a:latin typeface="Montserrat"/>
                <a:ea typeface="Montserrat"/>
                <a:cs typeface="Montserrat"/>
                <a:sym typeface="Montserrat"/>
              </a:rPr>
              <a:t>, fearful of legal penalties or military interception.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27469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Scenario 1: Cable Fault (in territorial sea)</a:t>
            </a:r>
            <a:endParaRPr/>
          </a:p>
        </p:txBody>
      </p:sp>
      <p:pic>
        <p:nvPicPr>
          <p:cNvPr id="158" name="Google Shape;158;p18" title="Scenario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72875" y="2184120"/>
            <a:ext cx="5936700" cy="3339300"/>
          </a:xfrm>
          <a:prstGeom prst="roundRect">
            <a:avLst>
              <a:gd fmla="val 8016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499" y="1536220"/>
            <a:ext cx="9356199" cy="4519574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9"/>
          <p:cNvSpPr txBox="1"/>
          <p:nvPr/>
        </p:nvSpPr>
        <p:spPr>
          <a:xfrm>
            <a:off x="571500" y="57150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>
                <a:solidFill>
                  <a:srgbClr val="27469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Scenario 1 continued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543425" y="1102575"/>
            <a:ext cx="9384300" cy="3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B5B5B"/>
                </a:solidFill>
                <a:latin typeface="Montserrat"/>
                <a:ea typeface="Montserrat"/>
                <a:cs typeface="Montserrat"/>
                <a:sym typeface="Montserrat"/>
              </a:rPr>
              <a:t>The repair operator encounters the following: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9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20" title="Screenshot 2026-06-20 at 11.30.5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14525" y="503006"/>
            <a:ext cx="12982851" cy="5293326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0"/>
          <p:cNvSpPr txBox="1"/>
          <p:nvPr/>
        </p:nvSpPr>
        <p:spPr>
          <a:xfrm>
            <a:off x="571500" y="571500"/>
            <a:ext cx="11601600" cy="484800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27469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The Repair Timeline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9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1"/>
          <p:cNvSpPr txBox="1"/>
          <p:nvPr/>
        </p:nvSpPr>
        <p:spPr>
          <a:xfrm>
            <a:off x="571500" y="57150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>
                <a:solidFill>
                  <a:srgbClr val="27469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You are members of the</a:t>
            </a:r>
            <a:endParaRPr/>
          </a:p>
        </p:txBody>
      </p:sp>
      <p:sp>
        <p:nvSpPr>
          <p:cNvPr id="177" name="Google Shape;177;p21"/>
          <p:cNvSpPr txBox="1"/>
          <p:nvPr/>
        </p:nvSpPr>
        <p:spPr>
          <a:xfrm>
            <a:off x="571500" y="1162050"/>
            <a:ext cx="11049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CC3399"/>
                </a:solidFill>
                <a:latin typeface="Montserrat"/>
                <a:ea typeface="Montserrat"/>
                <a:cs typeface="Montserrat"/>
                <a:sym typeface="Montserrat"/>
              </a:rPr>
              <a:t>Country A Cable Repair Coordination Forum</a:t>
            </a:r>
            <a:endParaRPr sz="3150"/>
          </a:p>
        </p:txBody>
      </p:sp>
      <p:sp>
        <p:nvSpPr>
          <p:cNvPr id="178" name="Google Shape;178;p21"/>
          <p:cNvSpPr txBox="1"/>
          <p:nvPr/>
        </p:nvSpPr>
        <p:spPr>
          <a:xfrm>
            <a:off x="1621400" y="2035075"/>
            <a:ext cx="9094500" cy="40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5B5B5B"/>
                </a:solidFill>
                <a:latin typeface="Montserrat"/>
                <a:ea typeface="Montserrat"/>
                <a:cs typeface="Montserrat"/>
                <a:sym typeface="Montserrat"/>
              </a:rPr>
              <a:t>The Forum convenes government </a:t>
            </a:r>
            <a:r>
              <a:rPr b="1" lang="en-US" sz="2500">
                <a:solidFill>
                  <a:srgbClr val="5B5B5B"/>
                </a:solidFill>
                <a:latin typeface="Montserrat"/>
                <a:ea typeface="Montserrat"/>
                <a:cs typeface="Montserrat"/>
                <a:sym typeface="Montserrat"/>
              </a:rPr>
              <a:t>regulators, cable owners, and operators to facilitate cross-stakeholder coordination and harmonisation of regulations and procedures for cable repairs</a:t>
            </a:r>
            <a:r>
              <a:rPr lang="en-US" sz="2500">
                <a:solidFill>
                  <a:srgbClr val="5B5B5B"/>
                </a:solidFill>
                <a:latin typeface="Montserrat"/>
                <a:ea typeface="Montserrat"/>
                <a:cs typeface="Montserrat"/>
                <a:sym typeface="Montserrat"/>
              </a:rPr>
              <a:t>, including technical and logistical aspects, with the aim of addressing issues and providing solutions to support submarine cable maintenance and repair.</a:t>
            </a:r>
            <a:endParaRPr sz="2500">
              <a:solidFill>
                <a:srgbClr val="5B5B5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9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2"/>
          <p:cNvSpPr txBox="1"/>
          <p:nvPr/>
        </p:nvSpPr>
        <p:spPr>
          <a:xfrm>
            <a:off x="602336" y="2295121"/>
            <a:ext cx="10001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3399"/>
                </a:solidFill>
                <a:latin typeface="Montserrat"/>
                <a:ea typeface="Montserrat"/>
                <a:cs typeface="Montserrat"/>
                <a:sym typeface="Montserrat"/>
              </a:rPr>
              <a:t>a)</a:t>
            </a:r>
            <a:r>
              <a:rPr b="1" i="0" lang="en-US" sz="1500" u="none" cap="none" strike="noStrike">
                <a:solidFill>
                  <a:srgbClr val="274690"/>
                </a:solidFill>
                <a:latin typeface="Montserrat"/>
                <a:ea typeface="Montserrat"/>
                <a:cs typeface="Montserrat"/>
                <a:sym typeface="Montserrat"/>
              </a:rPr>
              <a:t> Agency ping-pong (3 days):</a:t>
            </a:r>
            <a:r>
              <a:rPr b="0" i="0" lang="en-US" sz="1500" u="none" cap="none" strike="noStrike">
                <a:solidFill>
                  <a:srgbClr val="5B5B5B"/>
                </a:solidFill>
                <a:latin typeface="Montserrat"/>
                <a:ea typeface="Montserrat"/>
                <a:cs typeface="Montserrat"/>
                <a:sym typeface="Montserrat"/>
              </a:rPr>
              <a:t> The operator tries to work out which government ministry is responsible. They get passed around through 4 ministries.</a:t>
            </a:r>
            <a:endParaRPr/>
          </a:p>
        </p:txBody>
      </p:sp>
      <p:sp>
        <p:nvSpPr>
          <p:cNvPr id="184" name="Google Shape;184;p22"/>
          <p:cNvSpPr txBox="1"/>
          <p:nvPr/>
        </p:nvSpPr>
        <p:spPr>
          <a:xfrm>
            <a:off x="602336" y="3142846"/>
            <a:ext cx="10001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3399"/>
                </a:solidFill>
                <a:latin typeface="Montserrat"/>
                <a:ea typeface="Montserrat"/>
                <a:cs typeface="Montserrat"/>
                <a:sym typeface="Montserrat"/>
              </a:rPr>
              <a:t>b)</a:t>
            </a:r>
            <a:r>
              <a:rPr b="1" i="0" lang="en-US" sz="1500" u="none" cap="none" strike="noStrike">
                <a:solidFill>
                  <a:srgbClr val="274690"/>
                </a:solidFill>
                <a:latin typeface="Montserrat"/>
                <a:ea typeface="Montserrat"/>
                <a:cs typeface="Montserrat"/>
                <a:sym typeface="Montserrat"/>
              </a:rPr>
              <a:t> Foreign ship in domestic waters (7 days):</a:t>
            </a:r>
            <a:r>
              <a:rPr b="0" i="0" lang="en-US" sz="1500" u="none" cap="none" strike="noStrike">
                <a:solidFill>
                  <a:srgbClr val="5B5B5B"/>
                </a:solidFill>
                <a:latin typeface="Montserrat"/>
                <a:ea typeface="Montserrat"/>
                <a:cs typeface="Montserrat"/>
                <a:sym typeface="Montserrat"/>
              </a:rPr>
              <a:t> Cable repair falls under cabotage laws. The ship is foreign-flagged. Country A's laws restrict foreign ships and crew from working in domestic waters.</a:t>
            </a:r>
            <a:endParaRPr/>
          </a:p>
        </p:txBody>
      </p:sp>
      <p:sp>
        <p:nvSpPr>
          <p:cNvPr id="185" name="Google Shape;185;p22"/>
          <p:cNvSpPr txBox="1"/>
          <p:nvPr/>
        </p:nvSpPr>
        <p:spPr>
          <a:xfrm>
            <a:off x="602336" y="3990571"/>
            <a:ext cx="10001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3399"/>
                </a:solidFill>
                <a:latin typeface="Montserrat"/>
                <a:ea typeface="Montserrat"/>
                <a:cs typeface="Montserrat"/>
                <a:sym typeface="Montserrat"/>
              </a:rPr>
              <a:t>c)</a:t>
            </a:r>
            <a:r>
              <a:rPr b="1" i="0" lang="en-US" sz="1500" u="none" cap="none" strike="noStrike">
                <a:solidFill>
                  <a:srgbClr val="274690"/>
                </a:solidFill>
                <a:latin typeface="Montserrat"/>
                <a:ea typeface="Montserrat"/>
                <a:cs typeface="Montserrat"/>
                <a:sym typeface="Montserrat"/>
              </a:rPr>
              <a:t> Equipment import duties (7 days):</a:t>
            </a:r>
            <a:r>
              <a:rPr b="0" i="0" lang="en-US" sz="1500" u="none" cap="none" strike="noStrike">
                <a:solidFill>
                  <a:srgbClr val="5B5B5B"/>
                </a:solidFill>
                <a:latin typeface="Montserrat"/>
                <a:ea typeface="Montserrat"/>
                <a:cs typeface="Montserrat"/>
                <a:sym typeface="Montserrat"/>
              </a:rPr>
              <a:t> Country A treats spare cables and repeaters as standard commercial imports. Equipment held at port while duties are assessed. Disagreements on item values.</a:t>
            </a:r>
            <a:endParaRPr/>
          </a:p>
        </p:txBody>
      </p:sp>
      <p:sp>
        <p:nvSpPr>
          <p:cNvPr id="186" name="Google Shape;186;p22"/>
          <p:cNvSpPr txBox="1"/>
          <p:nvPr/>
        </p:nvSpPr>
        <p:spPr>
          <a:xfrm>
            <a:off x="602336" y="4838296"/>
            <a:ext cx="10001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3399"/>
                </a:solidFill>
                <a:latin typeface="Montserrat"/>
                <a:ea typeface="Montserrat"/>
                <a:cs typeface="Montserrat"/>
                <a:sym typeface="Montserrat"/>
              </a:rPr>
              <a:t>d)</a:t>
            </a:r>
            <a:r>
              <a:rPr b="1" i="0" lang="en-US" sz="1500" u="none" cap="none" strike="noStrike">
                <a:solidFill>
                  <a:srgbClr val="274690"/>
                </a:solidFill>
                <a:latin typeface="Montserrat"/>
                <a:ea typeface="Montserrat"/>
                <a:cs typeface="Montserrat"/>
                <a:sym typeface="Montserrat"/>
              </a:rPr>
              <a:t> Long processing times (43 days):</a:t>
            </a:r>
            <a:r>
              <a:rPr b="0" i="0" lang="en-US" sz="1500" u="none" cap="none" strike="noStrike">
                <a:solidFill>
                  <a:srgbClr val="5B5B5B"/>
                </a:solidFill>
                <a:latin typeface="Montserrat"/>
                <a:ea typeface="Montserrat"/>
                <a:cs typeface="Montserrat"/>
                <a:sym typeface="Montserrat"/>
              </a:rPr>
              <a:t> Applications for environmental, spatial, maritime, and security permits. Some are sequential, managed by different departments.</a:t>
            </a:r>
            <a:endParaRPr/>
          </a:p>
        </p:txBody>
      </p:sp>
      <p:sp>
        <p:nvSpPr>
          <p:cNvPr id="187" name="Google Shape;187;p22"/>
          <p:cNvSpPr txBox="1"/>
          <p:nvPr/>
        </p:nvSpPr>
        <p:spPr>
          <a:xfrm>
            <a:off x="571500" y="57150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CC3399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Question 1</a:t>
            </a:r>
            <a:endParaRPr>
              <a:solidFill>
                <a:srgbClr val="CC3399"/>
              </a:solidFill>
            </a:endParaRPr>
          </a:p>
        </p:txBody>
      </p:sp>
      <p:sp>
        <p:nvSpPr>
          <p:cNvPr id="188" name="Google Shape;188;p22"/>
          <p:cNvSpPr txBox="1"/>
          <p:nvPr/>
        </p:nvSpPr>
        <p:spPr>
          <a:xfrm>
            <a:off x="571500" y="1162050"/>
            <a:ext cx="110490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5B5B5B"/>
                </a:solidFill>
                <a:latin typeface="Montserrat"/>
                <a:ea typeface="Montserrat"/>
                <a:cs typeface="Montserrat"/>
                <a:sym typeface="Montserrat"/>
              </a:rPr>
              <a:t>How would you make the processes (a) - (d) faster and more streamlined so the repair ship can start fixing the fault sooner?</a:t>
            </a:r>
            <a:endParaRPr>
              <a:solidFill>
                <a:srgbClr val="5B5B5B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9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3"/>
          <p:cNvSpPr txBox="1"/>
          <p:nvPr/>
        </p:nvSpPr>
        <p:spPr>
          <a:xfrm>
            <a:off x="437175" y="1802634"/>
            <a:ext cx="52389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5B5B5B"/>
                </a:solidFill>
                <a:latin typeface="Montserrat"/>
                <a:ea typeface="Montserrat"/>
                <a:cs typeface="Montserrat"/>
                <a:sym typeface="Montserrat"/>
              </a:rPr>
              <a:t>A fishing trawler has just cut through Country A's second submarine cable in Country A's EEZ</a:t>
            </a:r>
            <a:r>
              <a:rPr lang="en-US" sz="1500">
                <a:solidFill>
                  <a:srgbClr val="5B5B5B"/>
                </a:solidFill>
                <a:latin typeface="Montserrat"/>
                <a:ea typeface="Montserrat"/>
                <a:cs typeface="Montserrat"/>
                <a:sym typeface="Montserrat"/>
              </a:rPr>
              <a:t>. Both cables are now down. The internet is practically unusable.</a:t>
            </a:r>
            <a:endParaRPr b="1" sz="1500">
              <a:solidFill>
                <a:srgbClr val="5B5B5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4" name="Google Shape;194;p23"/>
          <p:cNvSpPr txBox="1"/>
          <p:nvPr/>
        </p:nvSpPr>
        <p:spPr>
          <a:xfrm>
            <a:off x="437175" y="108350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>
                <a:solidFill>
                  <a:srgbClr val="27469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Scenario 1.5: Cable Fault (in EEZ)</a:t>
            </a:r>
            <a:endParaRPr sz="3150">
              <a:solidFill>
                <a:srgbClr val="CC3399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195" name="Google Shape;195;p23" title="Scenario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72875" y="2143004"/>
            <a:ext cx="5936700" cy="3339300"/>
          </a:xfrm>
          <a:prstGeom prst="roundRect">
            <a:avLst>
              <a:gd fmla="val 8016" name="adj"/>
            </a:avLst>
          </a:prstGeom>
          <a:noFill/>
          <a:ln>
            <a:noFill/>
          </a:ln>
        </p:spPr>
      </p:pic>
      <p:pic>
        <p:nvPicPr>
          <p:cNvPr id="196" name="Google Shape;196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6275" y="64395"/>
            <a:ext cx="11887198" cy="909985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3"/>
          <p:cNvSpPr txBox="1"/>
          <p:nvPr/>
        </p:nvSpPr>
        <p:spPr>
          <a:xfrm>
            <a:off x="437181" y="3250585"/>
            <a:ext cx="5073900" cy="28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274690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r>
              <a:rPr b="1" i="0" lang="en-US" sz="1500" u="none" cap="none" strike="noStrike">
                <a:solidFill>
                  <a:srgbClr val="274690"/>
                </a:solidFill>
                <a:latin typeface="Montserrat"/>
                <a:ea typeface="Montserrat"/>
                <a:cs typeface="Montserrat"/>
                <a:sym typeface="Montserrat"/>
              </a:rPr>
              <a:t>) </a:t>
            </a:r>
            <a:r>
              <a:rPr b="1" lang="en-US" sz="1500">
                <a:solidFill>
                  <a:srgbClr val="274690"/>
                </a:solidFill>
                <a:latin typeface="Montserrat"/>
                <a:ea typeface="Montserrat"/>
                <a:cs typeface="Montserrat"/>
                <a:sym typeface="Montserrat"/>
              </a:rPr>
              <a:t>Port entry for cable fault in EEZ (3 days)</a:t>
            </a:r>
            <a:r>
              <a:rPr b="1" i="0" lang="en-US" sz="1500" u="none" cap="none" strike="noStrike">
                <a:solidFill>
                  <a:srgbClr val="274690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r>
              <a:rPr b="0" i="0" lang="en-US" sz="1500" u="none" cap="none" strike="noStrike">
                <a:solidFill>
                  <a:srgbClr val="5B5B5B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0" i="0" sz="1500" u="none" cap="none" strike="noStrike">
              <a:solidFill>
                <a:srgbClr val="5B5B5B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5B5B5B"/>
                </a:solidFill>
                <a:latin typeface="Montserrat"/>
                <a:ea typeface="Montserrat"/>
                <a:cs typeface="Montserrat"/>
                <a:sym typeface="Montserrat"/>
              </a:rPr>
              <a:t>Despite the fault being in the EEZ, Country A requires the vessel to make a detour and dock at port to clear immigration, pay port fees, and formally process the temporary importation of the subsea cable equipment spares. </a:t>
            </a:r>
            <a:endParaRPr sz="1500">
              <a:solidFill>
                <a:srgbClr val="5B5B5B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500">
                <a:solidFill>
                  <a:srgbClr val="5B5B5B"/>
                </a:solidFill>
                <a:latin typeface="Montserrat"/>
                <a:ea typeface="Montserrat"/>
                <a:cs typeface="Montserrat"/>
                <a:sym typeface="Montserrat"/>
              </a:rPr>
              <a:t>This adds 3 days in addition to the other processes in Question 1.</a:t>
            </a:r>
            <a:endParaRPr sz="1500">
              <a:solidFill>
                <a:srgbClr val="5B5B5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9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2" name="Google Shape;20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2350" y="2097475"/>
            <a:ext cx="10838651" cy="415015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4"/>
          <p:cNvSpPr txBox="1"/>
          <p:nvPr/>
        </p:nvSpPr>
        <p:spPr>
          <a:xfrm>
            <a:off x="595266" y="2196161"/>
            <a:ext cx="10001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3399"/>
                </a:solidFill>
                <a:latin typeface="Montserrat"/>
                <a:ea typeface="Montserrat"/>
                <a:cs typeface="Montserrat"/>
                <a:sym typeface="Montserrat"/>
              </a:rPr>
              <a:t>a)</a:t>
            </a:r>
            <a:r>
              <a:rPr b="1" i="0" lang="en-US" sz="1500" u="none" cap="none" strike="noStrike">
                <a:solidFill>
                  <a:srgbClr val="274690"/>
                </a:solidFill>
                <a:latin typeface="Montserrat"/>
                <a:ea typeface="Montserrat"/>
                <a:cs typeface="Montserrat"/>
                <a:sym typeface="Montserrat"/>
              </a:rPr>
              <a:t> Agency ping-pong (3 days):</a:t>
            </a:r>
            <a:r>
              <a:rPr b="0" i="0" lang="en-US" sz="1500" u="none" cap="none" strike="noStrike">
                <a:solidFill>
                  <a:srgbClr val="5B5B5B"/>
                </a:solidFill>
                <a:latin typeface="Montserrat"/>
                <a:ea typeface="Montserrat"/>
                <a:cs typeface="Montserrat"/>
                <a:sym typeface="Montserrat"/>
              </a:rPr>
              <a:t> The operator tries to work out which government ministry is responsible. They get passed around through 4 ministries.</a:t>
            </a:r>
            <a:endParaRPr/>
          </a:p>
        </p:txBody>
      </p:sp>
      <p:sp>
        <p:nvSpPr>
          <p:cNvPr id="204" name="Google Shape;204;p24"/>
          <p:cNvSpPr txBox="1"/>
          <p:nvPr/>
        </p:nvSpPr>
        <p:spPr>
          <a:xfrm>
            <a:off x="595266" y="2966115"/>
            <a:ext cx="10001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3399"/>
                </a:solidFill>
                <a:latin typeface="Montserrat"/>
                <a:ea typeface="Montserrat"/>
                <a:cs typeface="Montserrat"/>
                <a:sym typeface="Montserrat"/>
              </a:rPr>
              <a:t>b)</a:t>
            </a:r>
            <a:r>
              <a:rPr b="1" i="0" lang="en-US" sz="1500" u="none" cap="none" strike="noStrike">
                <a:solidFill>
                  <a:srgbClr val="274690"/>
                </a:solidFill>
                <a:latin typeface="Montserrat"/>
                <a:ea typeface="Montserrat"/>
                <a:cs typeface="Montserrat"/>
                <a:sym typeface="Montserrat"/>
              </a:rPr>
              <a:t> Foreign ship in domestic waters (7 days):</a:t>
            </a:r>
            <a:r>
              <a:rPr b="0" i="0" lang="en-US" sz="1500" u="none" cap="none" strike="noStrike">
                <a:solidFill>
                  <a:srgbClr val="5B5B5B"/>
                </a:solidFill>
                <a:latin typeface="Montserrat"/>
                <a:ea typeface="Montserrat"/>
                <a:cs typeface="Montserrat"/>
                <a:sym typeface="Montserrat"/>
              </a:rPr>
              <a:t> Cable repair falls under cabotage laws. The ship is foreign-flagged. Country A's laws restrict foreign ships and crew from working in domestic waters.</a:t>
            </a:r>
            <a:endParaRPr/>
          </a:p>
        </p:txBody>
      </p:sp>
      <p:sp>
        <p:nvSpPr>
          <p:cNvPr id="205" name="Google Shape;205;p24"/>
          <p:cNvSpPr txBox="1"/>
          <p:nvPr/>
        </p:nvSpPr>
        <p:spPr>
          <a:xfrm>
            <a:off x="595266" y="3736068"/>
            <a:ext cx="10001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3399"/>
                </a:solidFill>
                <a:latin typeface="Montserrat"/>
                <a:ea typeface="Montserrat"/>
                <a:cs typeface="Montserrat"/>
                <a:sym typeface="Montserrat"/>
              </a:rPr>
              <a:t>c)</a:t>
            </a:r>
            <a:r>
              <a:rPr b="1" i="0" lang="en-US" sz="1500" u="none" cap="none" strike="noStrike">
                <a:solidFill>
                  <a:srgbClr val="274690"/>
                </a:solidFill>
                <a:latin typeface="Montserrat"/>
                <a:ea typeface="Montserrat"/>
                <a:cs typeface="Montserrat"/>
                <a:sym typeface="Montserrat"/>
              </a:rPr>
              <a:t> Equipment import duties (7 days):</a:t>
            </a:r>
            <a:r>
              <a:rPr b="0" i="0" lang="en-US" sz="1500" u="none" cap="none" strike="noStrike">
                <a:solidFill>
                  <a:srgbClr val="5B5B5B"/>
                </a:solidFill>
                <a:latin typeface="Montserrat"/>
                <a:ea typeface="Montserrat"/>
                <a:cs typeface="Montserrat"/>
                <a:sym typeface="Montserrat"/>
              </a:rPr>
              <a:t> Country A treats spare cables and repeaters as standard commercial imports. Equipment held at port while duties are assessed. Disagreements on item values.</a:t>
            </a:r>
            <a:endParaRPr/>
          </a:p>
        </p:txBody>
      </p:sp>
      <p:sp>
        <p:nvSpPr>
          <p:cNvPr id="206" name="Google Shape;206;p24"/>
          <p:cNvSpPr txBox="1"/>
          <p:nvPr/>
        </p:nvSpPr>
        <p:spPr>
          <a:xfrm>
            <a:off x="595266" y="4470672"/>
            <a:ext cx="10001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3399"/>
                </a:solidFill>
                <a:latin typeface="Montserrat"/>
                <a:ea typeface="Montserrat"/>
                <a:cs typeface="Montserrat"/>
                <a:sym typeface="Montserrat"/>
              </a:rPr>
              <a:t>d)</a:t>
            </a:r>
            <a:r>
              <a:rPr b="1" i="0" lang="en-US" sz="1500" u="none" cap="none" strike="noStrike">
                <a:solidFill>
                  <a:srgbClr val="274690"/>
                </a:solidFill>
                <a:latin typeface="Montserrat"/>
                <a:ea typeface="Montserrat"/>
                <a:cs typeface="Montserrat"/>
                <a:sym typeface="Montserrat"/>
              </a:rPr>
              <a:t> Long processing times (43 days):</a:t>
            </a:r>
            <a:r>
              <a:rPr b="0" i="0" lang="en-US" sz="1500" u="none" cap="none" strike="noStrike">
                <a:solidFill>
                  <a:srgbClr val="5B5B5B"/>
                </a:solidFill>
                <a:latin typeface="Montserrat"/>
                <a:ea typeface="Montserrat"/>
                <a:cs typeface="Montserrat"/>
                <a:sym typeface="Montserrat"/>
              </a:rPr>
              <a:t> Applications for environmental, spatial, maritime, and security permits. Some are sequential, managed by different departments.</a:t>
            </a:r>
            <a:endParaRPr/>
          </a:p>
        </p:txBody>
      </p:sp>
      <p:sp>
        <p:nvSpPr>
          <p:cNvPr id="207" name="Google Shape;207;p24"/>
          <p:cNvSpPr txBox="1"/>
          <p:nvPr/>
        </p:nvSpPr>
        <p:spPr>
          <a:xfrm>
            <a:off x="571500" y="57150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CC3399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Question 1 &amp; 2</a:t>
            </a:r>
            <a:endParaRPr>
              <a:solidFill>
                <a:srgbClr val="CC3399"/>
              </a:solidFill>
            </a:endParaRPr>
          </a:p>
        </p:txBody>
      </p:sp>
      <p:sp>
        <p:nvSpPr>
          <p:cNvPr id="208" name="Google Shape;208;p24"/>
          <p:cNvSpPr txBox="1"/>
          <p:nvPr/>
        </p:nvSpPr>
        <p:spPr>
          <a:xfrm>
            <a:off x="571500" y="1162050"/>
            <a:ext cx="110490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5B5B5B"/>
                </a:solidFill>
                <a:latin typeface="Montserrat"/>
                <a:ea typeface="Montserrat"/>
                <a:cs typeface="Montserrat"/>
                <a:sym typeface="Montserrat"/>
              </a:rPr>
              <a:t>How would you make the processes (a) - (</a:t>
            </a:r>
            <a:r>
              <a:rPr b="1" lang="en-US" sz="1800">
                <a:solidFill>
                  <a:srgbClr val="5B5B5B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r>
              <a:rPr b="1" i="0" lang="en-US" sz="1800" u="none" cap="none" strike="noStrike">
                <a:solidFill>
                  <a:srgbClr val="5B5B5B"/>
                </a:solidFill>
                <a:latin typeface="Montserrat"/>
                <a:ea typeface="Montserrat"/>
                <a:cs typeface="Montserrat"/>
                <a:sym typeface="Montserrat"/>
              </a:rPr>
              <a:t>) faster and more streamlined so the repair ship can start fixing the fault sooner?</a:t>
            </a:r>
            <a:endParaRPr sz="1800">
              <a:solidFill>
                <a:srgbClr val="5B5B5B"/>
              </a:solidFill>
            </a:endParaRPr>
          </a:p>
        </p:txBody>
      </p:sp>
      <p:sp>
        <p:nvSpPr>
          <p:cNvPr id="209" name="Google Shape;209;p24"/>
          <p:cNvSpPr txBox="1"/>
          <p:nvPr/>
        </p:nvSpPr>
        <p:spPr>
          <a:xfrm>
            <a:off x="595275" y="5209000"/>
            <a:ext cx="109479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CC3399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r>
              <a:rPr b="1" i="0" lang="en-US" sz="1500" u="none" cap="none" strike="noStrike">
                <a:solidFill>
                  <a:srgbClr val="CC3399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r>
              <a:rPr b="1" i="0" lang="en-US" sz="1500" u="none" cap="none" strike="noStrike">
                <a:solidFill>
                  <a:srgbClr val="27469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-US" sz="1500">
                <a:solidFill>
                  <a:srgbClr val="274690"/>
                </a:solidFill>
                <a:latin typeface="Montserrat"/>
                <a:ea typeface="Montserrat"/>
                <a:cs typeface="Montserrat"/>
                <a:sym typeface="Montserrat"/>
              </a:rPr>
              <a:t>Port entry for cable fault in EEZ (3 days)</a:t>
            </a:r>
            <a:r>
              <a:rPr b="1" i="0" lang="en-US" sz="1500" u="none" cap="none" strike="noStrike">
                <a:solidFill>
                  <a:srgbClr val="274690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r>
              <a:rPr b="0" i="0" lang="en-US" sz="1500" u="none" cap="none" strike="noStrike">
                <a:solidFill>
                  <a:srgbClr val="5B5B5B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00">
                <a:solidFill>
                  <a:srgbClr val="5B5B5B"/>
                </a:solidFill>
                <a:latin typeface="Montserrat"/>
                <a:ea typeface="Montserrat"/>
                <a:cs typeface="Montserrat"/>
                <a:sym typeface="Montserrat"/>
              </a:rPr>
              <a:t>Despite the fault being in the EEZ, Country A requires the vessel to make a detour and dock at port to clear immigration, pay port fees, and formally process the temporary importation of the subsea cable equipment spares. </a:t>
            </a:r>
            <a:endParaRPr sz="1500">
              <a:solidFill>
                <a:srgbClr val="5B5B5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9F9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4" name="Google Shape;21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510730"/>
            <a:ext cx="3429000" cy="3143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1500" y="2510730"/>
            <a:ext cx="3429000" cy="3143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1500" y="2510730"/>
            <a:ext cx="3429000" cy="3143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5"/>
          <p:cNvSpPr txBox="1"/>
          <p:nvPr/>
        </p:nvSpPr>
        <p:spPr>
          <a:xfrm>
            <a:off x="1314450" y="3739825"/>
            <a:ext cx="1943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7469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a) </a:t>
            </a:r>
            <a:r>
              <a:rPr lang="en-US" sz="2100">
                <a:solidFill>
                  <a:srgbClr val="27469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Motivation</a:t>
            </a:r>
            <a:endParaRPr/>
          </a:p>
        </p:txBody>
      </p:sp>
      <p:sp>
        <p:nvSpPr>
          <p:cNvPr id="218" name="Google Shape;218;p25"/>
          <p:cNvSpPr txBox="1"/>
          <p:nvPr/>
        </p:nvSpPr>
        <p:spPr>
          <a:xfrm>
            <a:off x="866775" y="4206180"/>
            <a:ext cx="28386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B5B5B"/>
                </a:solidFill>
                <a:latin typeface="Montserrat"/>
                <a:ea typeface="Montserrat"/>
                <a:cs typeface="Montserrat"/>
                <a:sym typeface="Montserrat"/>
              </a:rPr>
              <a:t>What were the key triggers that motivated change?</a:t>
            </a:r>
            <a:endParaRPr/>
          </a:p>
        </p:txBody>
      </p:sp>
      <p:sp>
        <p:nvSpPr>
          <p:cNvPr id="219" name="Google Shape;219;p25"/>
          <p:cNvSpPr txBox="1"/>
          <p:nvPr/>
        </p:nvSpPr>
        <p:spPr>
          <a:xfrm>
            <a:off x="5085873" y="3739455"/>
            <a:ext cx="20202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CC3399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b) Challenges</a:t>
            </a:r>
            <a:endParaRPr/>
          </a:p>
        </p:txBody>
      </p:sp>
      <p:sp>
        <p:nvSpPr>
          <p:cNvPr id="220" name="Google Shape;220;p25"/>
          <p:cNvSpPr txBox="1"/>
          <p:nvPr/>
        </p:nvSpPr>
        <p:spPr>
          <a:xfrm>
            <a:off x="4676775" y="4206180"/>
            <a:ext cx="28386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B5B5B"/>
                </a:solidFill>
                <a:latin typeface="Montserrat"/>
                <a:ea typeface="Montserrat"/>
                <a:cs typeface="Montserrat"/>
                <a:sym typeface="Montserrat"/>
              </a:rPr>
              <a:t>What challenges were faced, and how were they overcome?</a:t>
            </a:r>
            <a:endParaRPr/>
          </a:p>
        </p:txBody>
      </p:sp>
      <p:sp>
        <p:nvSpPr>
          <p:cNvPr id="221" name="Google Shape;221;p25"/>
          <p:cNvSpPr txBox="1"/>
          <p:nvPr/>
        </p:nvSpPr>
        <p:spPr>
          <a:xfrm>
            <a:off x="9085897" y="3739455"/>
            <a:ext cx="164020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5B5B5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c) Ongoing</a:t>
            </a:r>
            <a:endParaRPr/>
          </a:p>
        </p:txBody>
      </p:sp>
      <p:sp>
        <p:nvSpPr>
          <p:cNvPr id="222" name="Google Shape;222;p25"/>
          <p:cNvSpPr txBox="1"/>
          <p:nvPr/>
        </p:nvSpPr>
        <p:spPr>
          <a:xfrm>
            <a:off x="8486775" y="4206180"/>
            <a:ext cx="28386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B5B5B"/>
                </a:solidFill>
                <a:latin typeface="Montserrat"/>
                <a:ea typeface="Montserrat"/>
                <a:cs typeface="Montserrat"/>
                <a:sym typeface="Montserrat"/>
              </a:rPr>
              <a:t>What challenges do you continue to face?</a:t>
            </a:r>
            <a:endParaRPr/>
          </a:p>
        </p:txBody>
      </p:sp>
      <p:pic>
        <p:nvPicPr>
          <p:cNvPr descr="image.png" id="223" name="Google Shape;223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114550" y="2986980"/>
            <a:ext cx="3429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0" y="2986980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20250" y="2986980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5"/>
          <p:cNvSpPr txBox="1"/>
          <p:nvPr/>
        </p:nvSpPr>
        <p:spPr>
          <a:xfrm>
            <a:off x="571500" y="571500"/>
            <a:ext cx="116016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CC3399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Question 3:</a:t>
            </a:r>
            <a:r>
              <a:rPr b="0" i="0" lang="en-US" sz="3150" u="none" cap="none" strike="noStrike">
                <a:solidFill>
                  <a:srgbClr val="27469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 Reflecting on your own country</a:t>
            </a:r>
            <a:r>
              <a:rPr lang="en-US" sz="3150">
                <a:solidFill>
                  <a:srgbClr val="27469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’s e</a:t>
            </a:r>
            <a:r>
              <a:rPr b="0" i="0" lang="en-US" sz="3150" u="none" cap="none" strike="noStrike">
                <a:solidFill>
                  <a:srgbClr val="27469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xperience</a:t>
            </a:r>
            <a:r>
              <a:rPr lang="en-US" sz="3150">
                <a:solidFill>
                  <a:srgbClr val="27469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…</a:t>
            </a:r>
            <a:endParaRPr/>
          </a:p>
        </p:txBody>
      </p:sp>
      <p:sp>
        <p:nvSpPr>
          <p:cNvPr id="227" name="Google Shape;227;p25"/>
          <p:cNvSpPr txBox="1"/>
          <p:nvPr/>
        </p:nvSpPr>
        <p:spPr>
          <a:xfrm>
            <a:off x="571500" y="1590591"/>
            <a:ext cx="110490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5B5B5B"/>
                </a:solidFill>
                <a:latin typeface="Montserrat"/>
                <a:ea typeface="Montserrat"/>
                <a:cs typeface="Montserrat"/>
                <a:sym typeface="Montserrat"/>
              </a:rPr>
              <a:t>Has your country adopted or tried to adopt any practices to streamline or expedite cable repairs? If so...</a:t>
            </a:r>
            <a:endParaRPr b="1"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